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virada da aula. No mundo industrial, o produto era conhecido e estável: a eficácia era PRESSUPOSTA e toda a energia gerencial ia para a eficiência — Taylor, tempos e movimentos, linha de produção. No trabalho do conhecimento, sob incerteza, saber executar bem deixou de ser o gargalo. A pergunta cara agora é OUTRA: o que é a coisa certa a fazer? A formulação sobre previsão vem de Team of Teams, de Stanley McChrystal.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Ackoff descreve cinco tipos de conteúdo da mente: dados, informação, conhecimento, entendimento e sabedoria. Os quatro primeiros servem à eficiência; só a sabedoria serve à eficácia. Ele resume numa de suas 'f-laws': para gestores, uma grama de sabedoria vale mais que um quilo de entendimento. E complementa: a ciência persegue dados, informação, conhecimento e entendimento — o que é verdadeiro; as humanidades perseguem sabedoria — o que é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leitura mais útil da pirâmide para gestão. Inteligência é a capacidade de fazer melhor DENTRO de uma escolha que já foi feita — mais, mais rápido, mais barato. Sabedoria é a capacidade de fazer a escolha. Repare que um time pode ser altamente inteligente e completamente dependente da sabedoria de outra pessoa; é exatamente o time que executa bem um backlog que alguém decidiu.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provocação. Pergunte à turma: quanto do dia de vocês é consumido lendo mensagem, relatório e dashboard — informação? E quanto é dedicado a decidir o que é certo fazer? A inversão entre as duas pirâmides é o diagnóstico mais honesto de por que tantas organizações são eficientes e ineficazes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com o curso de Ciência de Dados e IA: vale provocar — se a máquina sobe rapidamente os quatro primeiros degraus da pirâmide, o que resta de insubstituível é o degrau da sabedoria. Isso não é retórica: é a razão pela qual disciplinas de método e decisão ganharam peso na formação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Alisson Vale desenhou essa expressão num guardanapo de papel, no almoço do primeiro dia de uma conferência, para Alan Shalloway. A conexão com Drucker veio depois, em junho de 2012, num trem de Mayrhofen para Viena, lendo 'Lessons in Agile Management' de David Anderson.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essencial: a fórmula não é um ciclo automático. Cada seta entre ? e ! é atravessada por uma decisão humana — qual hipótese testar primeiro, como testar, o que aceitar como evidência suficiente. É um processo iterativo no nível de cada micro-decisão.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Provocação útil em sala: se o time recebe o backlog fechado e só executa, de quem é a eficácia? A resposta desconfortável é que ela foi delegada para fora — e é por isso que times assim não conseguem responder pelo resultado, só pela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comparação é do próprio Alisson Vale, na palestra 'O Encaixe Problema-Solução'. O contraste que ele usa como título das duas colunas é: Entrega de Software × Entrega de Valor de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Reconstrução da sketchnote do próprio Alisson Vale. Pontos para conduzir: (1) a definição de eficácia no topo é a mais precisa do livro — encaixe problema-solução DENTRO das restrições; (2) o sistema contém as duas coisas: O QUE fazer, que é a busca pela eficácia, e COMO fazer, que é o fluxo eficiente de trabalho — não são concorrentes; (3) o trajeto de A até B passa por pontos de decisão, e em cada um há opções; (4) o caminho da eficiência, em vermelho, contorna o sistema: elimina as opções e minimiza as decisões, porque o jeito certo foi definido a priori. A1 e A2 são estados intermediários alcançados após cada rodada de escolha e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 do bloco do encaixe. A frase sobre o cliente é o teste prático de todo backlog: para cada item, pergunte qual problema o cliente deixa de ter por causa dele. Se ninguém souber responder, aquele item é uma aposta, não um compromisso. A citação de Ackoff fecha o arco aberto no slide 3: o erro de eficiência é corrigível, o erro de eficácia é invisível — e por isso mais caro.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Sofia sabe intuitivamente o que Drucker escreveu em 1967 em 'The Effective Executive': o que é necessário é a estratégia certa, e não uma tática improvisada.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escolham uma decisão estrutural, não operacional: 'usar tal tecnologia', 'atender tal público', 'o problema é X'. As decisões operacionais quase sempre têm Δt curto; as estruturais é que carregam risco escondido.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image" Target="../media/image-19-2.png"/><Relationship Id="rId6" Type="http://schemas.openxmlformats.org/officeDocument/2006/relationships/image" Target="../media/image-1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ap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ibmec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1828800" cy="4057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spc="300" kern="0" dirty="0">
                <a:solidFill>
                  <a:srgbClr val="D6AA2C"/>
                </a:solidFill>
              </a:rPr>
              <a:t>MINDSET DE DECISÃO</a:t>
            </a:r>
            <a:endParaRPr lang="en-US" sz="1430" dirty="0"/>
          </a:p>
        </p:txBody>
      </p:sp>
      <p:sp>
        <p:nvSpPr>
          <p:cNvPr id="5" name="Text 1"/>
          <p:cNvSpPr/>
          <p:nvPr/>
        </p:nvSpPr>
        <p:spPr>
          <a:xfrm>
            <a:off x="658368" y="2423160"/>
            <a:ext cx="1005840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25400" dir="5400000">
              <a:srgbClr val="000000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A Fórmula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da Eficácia</a:t>
            </a:r>
            <a:endParaRPr lang="en-US" sz="4800" dirty="0"/>
          </a:p>
        </p:txBody>
      </p:sp>
      <p:sp>
        <p:nvSpPr>
          <p:cNvPr id="6" name="Shape 2"/>
          <p:cNvSpPr/>
          <p:nvPr/>
        </p:nvSpPr>
        <p:spPr>
          <a:xfrm>
            <a:off x="685800" y="4206240"/>
            <a:ext cx="2194560" cy="41148"/>
          </a:xfrm>
          <a:prstGeom prst="rect">
            <a:avLst/>
          </a:prstGeom>
          <a:solidFill>
            <a:srgbClr val="D6AA2C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44805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30" dirty="0">
                <a:solidFill>
                  <a:srgbClr val="BCD0EA"/>
                </a:solidFill>
              </a:rPr>
              <a:t>Alisson Vale · Software Zen, 2020</a:t>
            </a:r>
            <a:endParaRPr lang="en-US" sz="163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30" dirty="0">
                <a:solidFill>
                  <a:srgbClr val="BCD0EA"/>
                </a:solidFill>
              </a:rPr>
              <a:t>Com a hierarquia do conhecimento de Russell Ackoff</a:t>
            </a:r>
            <a:endParaRPr lang="en-US" sz="1630" dirty="0"/>
          </a:p>
        </p:txBody>
      </p:sp>
      <p:sp>
        <p:nvSpPr>
          <p:cNvPr id="8" name="Text 4"/>
          <p:cNvSpPr/>
          <p:nvPr/>
        </p:nvSpPr>
        <p:spPr>
          <a:xfrm>
            <a:off x="685800" y="5532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Prof. Ari Amaral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8580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7C93B5"/>
                </a:solidFill>
              </a:rPr>
              <a:t>IBMEC · 2026</a:t>
            </a:r>
            <a:endParaRPr lang="en-US" sz="12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01 · A VIRADA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O que mudou: os papéis se inverteram</a:t>
            </a:r>
            <a:endParaRPr lang="en-US" sz="2900" dirty="0"/>
          </a:p>
        </p:txBody>
      </p:sp>
      <p:pic>
        <p:nvPicPr>
          <p:cNvPr id="5" name="Image 1" descr="e_inver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7360"/>
            <a:ext cx="10881360" cy="35661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8368" y="548640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42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005840" y="5486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Se você sabe de antemão, com certeza, qual é a coisa certa, então eficiência é um bom substituto para eficácia. Só que não sabemos mais.</a:t>
            </a:r>
            <a:endParaRPr lang="en-US" sz="1480" dirty="0"/>
          </a:p>
        </p:txBody>
      </p:sp>
      <p:sp>
        <p:nvSpPr>
          <p:cNvPr id="8" name="Text 4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01 · A VIRADA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Drucker define, Ackoff explica o preço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58368" y="17373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CC4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32688" y="1901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7CC4FF"/>
                </a:solidFill>
              </a:rPr>
              <a:t>Peter Drucker</a:t>
            </a:r>
            <a:endParaRPr lang="en-US" sz="1480" dirty="0"/>
          </a:p>
        </p:txBody>
      </p:sp>
      <p:sp>
        <p:nvSpPr>
          <p:cNvPr id="7" name="Text 4"/>
          <p:cNvSpPr/>
          <p:nvPr/>
        </p:nvSpPr>
        <p:spPr>
          <a:xfrm>
            <a:off x="932688" y="22677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30" dirty="0">
                <a:solidFill>
                  <a:srgbClr val="EAF2FF"/>
                </a:solidFill>
              </a:rPr>
              <a:t>Eficiência é fazer do jeito certo.</a:t>
            </a:r>
            <a:endParaRPr lang="en-US" sz="153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30" dirty="0">
                <a:solidFill>
                  <a:srgbClr val="EAF2FF"/>
                </a:solidFill>
              </a:rPr>
              <a:t>Eficácia é fazer a coisa certa.</a:t>
            </a:r>
            <a:endParaRPr lang="en-US" sz="1530" dirty="0"/>
          </a:p>
        </p:txBody>
      </p:sp>
      <p:sp>
        <p:nvSpPr>
          <p:cNvPr id="8" name="Shape 5"/>
          <p:cNvSpPr/>
          <p:nvPr/>
        </p:nvSpPr>
        <p:spPr>
          <a:xfrm>
            <a:off x="6144768" y="17373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D6AA2C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19088" y="1901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D6AA2C"/>
                </a:solidFill>
              </a:rPr>
              <a:t>Russell Ackoff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6419088" y="22677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30" dirty="0">
                <a:solidFill>
                  <a:srgbClr val="EAF2FF"/>
                </a:solidFill>
              </a:rPr>
              <a:t>Quanto mais certo você faz a coisa errada,</a:t>
            </a:r>
            <a:endParaRPr lang="en-US" sz="153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30" dirty="0">
                <a:solidFill>
                  <a:srgbClr val="EAF2FF"/>
                </a:solidFill>
              </a:rPr>
              <a:t>mais errado você fica.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658368" y="34290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60120" y="35844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D6AA2C"/>
                </a:solidFill>
              </a:rPr>
              <a:t>A consequência prática, que é contraintuitiva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960120" y="395020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80" dirty="0">
                <a:solidFill>
                  <a:srgbClr val="EAF2FF"/>
                </a:solidFill>
              </a:rPr>
              <a:t>Se você está fazendo a coisa errada e melhora a execução, você não se aproxima do resultado — você se afasta dele mais rápido, e com métricas melhores. Ackoff conclui: é preferível fazer a coisa certa de um jeito errado do que a coisa errada de um jeito certo. O primeiro erro é corrigível; o segundo é invisível.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658368" y="50292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F8A8A">
              <a:alpha val="10000"/>
            </a:srgbClr>
          </a:solidFill>
          <a:ln w="12700">
            <a:solidFill>
              <a:srgbClr val="FF8A8A">
                <a:alpha val="42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60120" y="5257800"/>
            <a:ext cx="640080" cy="640080"/>
          </a:xfrm>
          <a:prstGeom prst="ellipse">
            <a:avLst/>
          </a:prstGeom>
          <a:solidFill>
            <a:srgbClr val="FF8A8A">
              <a:alpha val="14000"/>
            </a:srgbClr>
          </a:solidFill>
          <a:ln w="12700">
            <a:solidFill>
              <a:srgbClr val="FF8A8A">
                <a:alpha val="30000"/>
              </a:srgbClr>
            </a:solidFill>
            <a:prstDash val="solid"/>
          </a:ln>
        </p:spPr>
      </p:sp>
      <p:pic>
        <p:nvPicPr>
          <p:cNvPr id="16" name="Image 1" descr="ic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2" y="5430622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83080" y="50292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30" dirty="0">
                <a:solidFill>
                  <a:srgbClr val="EAF2FF"/>
                </a:solidFill>
              </a:rPr>
              <a:t>Ackoff observava que a maior parte dos grandes problemas atuais vem de tentar fazer a coisa errada de um jeito cada vez mais certo.</a:t>
            </a:r>
            <a:endParaRPr lang="en-US" sz="1430" dirty="0"/>
          </a:p>
        </p:txBody>
      </p:sp>
      <p:sp>
        <p:nvSpPr>
          <p:cNvPr id="18" name="Text 14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02 · ACKOFF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 hierarquia do conhecimento</a:t>
            </a:r>
            <a:endParaRPr lang="en-US" sz="2900" dirty="0"/>
          </a:p>
        </p:txBody>
      </p:sp>
      <p:pic>
        <p:nvPicPr>
          <p:cNvPr id="5" name="Image 1" descr="e_ack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44074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02 · ACKOFF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Inteligência e sabedoria não são a mesma coisa</a:t>
            </a:r>
            <a:endParaRPr lang="en-US" sz="2900" dirty="0"/>
          </a:p>
        </p:txBody>
      </p:sp>
      <p:pic>
        <p:nvPicPr>
          <p:cNvPr id="5" name="Image 1" descr="e_m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10881360" cy="43159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02 · ACKOFF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Mas onde gastamos o nosso tempo?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58368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30" dirty="0">
                <a:solidFill>
                  <a:srgbClr val="BCD0EA"/>
                </a:solidFill>
              </a:rPr>
              <a:t>Quando comparamos com o tempo que dedicamos a cada um desses tipos de conteúdo, a pirâmide se inverte.</a:t>
            </a:r>
            <a:endParaRPr lang="en-US" sz="1530" dirty="0"/>
          </a:p>
        </p:txBody>
      </p:sp>
      <p:pic>
        <p:nvPicPr>
          <p:cNvPr id="6" name="Image 1" descr="e_tem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10515600" cy="3675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02 · ACKOFF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Por que isso ficou mais urgente agora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58368" y="1783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CC4FF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965960"/>
            <a:ext cx="621792" cy="621792"/>
          </a:xfrm>
          <a:prstGeom prst="ellipse">
            <a:avLst/>
          </a:prstGeom>
          <a:solidFill>
            <a:srgbClr val="7CC4FF">
              <a:alpha val="14000"/>
            </a:srgbClr>
          </a:solidFill>
          <a:ln w="12700">
            <a:solidFill>
              <a:srgbClr val="7CC4FF">
                <a:alpha val="30000"/>
              </a:srgbClr>
            </a:solidFill>
            <a:prstDash val="solid"/>
          </a:ln>
        </p:spPr>
      </p:sp>
      <p:pic>
        <p:nvPicPr>
          <p:cNvPr id="7" name="Image 1" descr="ic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84" y="2133844"/>
            <a:ext cx="286024" cy="286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4208" y="2002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C4FF"/>
                </a:solidFill>
              </a:rPr>
              <a:t>Os quatro andares de baixo estão sendo automatizados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32688" y="2697480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180" dirty="0">
                <a:solidFill>
                  <a:srgbClr val="EAF2FF"/>
                </a:solidFill>
              </a:rPr>
              <a:t>Dados, informação, conhecimento e boa parte do entendimento já são produzidos em escala por máquinas. A eficiência ficou barata.</a:t>
            </a:r>
            <a:endParaRPr lang="en-US" sz="1180" dirty="0"/>
          </a:p>
        </p:txBody>
      </p:sp>
      <p:sp>
        <p:nvSpPr>
          <p:cNvPr id="10" name="Shape 6"/>
          <p:cNvSpPr/>
          <p:nvPr/>
        </p:nvSpPr>
        <p:spPr>
          <a:xfrm>
            <a:off x="6281928" y="1783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D6AA2C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965960"/>
            <a:ext cx="621792" cy="621792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12" name="Image 2" descr="ic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44" y="2133844"/>
            <a:ext cx="286024" cy="286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87768" y="2002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AA2C"/>
                </a:solidFill>
              </a:rPr>
              <a:t>O topo continua sendo trabalho humano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556248" y="2697480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180" dirty="0">
                <a:solidFill>
                  <a:srgbClr val="EAF2FF"/>
                </a:solidFill>
              </a:rPr>
              <a:t>Decidir o que é certo fazer depende de propósito, contexto, valores e responsabilidade — coisas que não se derivam do dado.</a:t>
            </a:r>
            <a:endParaRPr lang="en-US" sz="1180" dirty="0"/>
          </a:p>
        </p:txBody>
      </p:sp>
      <p:sp>
        <p:nvSpPr>
          <p:cNvPr id="15" name="Shape 10"/>
          <p:cNvSpPr/>
          <p:nvPr/>
        </p:nvSpPr>
        <p:spPr>
          <a:xfrm>
            <a:off x="658368" y="425196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960120" y="44348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D6AA2C"/>
                </a:solidFill>
              </a:rPr>
              <a:t>A consequência para a formação de vocês</a:t>
            </a:r>
            <a:endParaRPr lang="en-US" sz="1480" dirty="0"/>
          </a:p>
        </p:txBody>
      </p:sp>
      <p:sp>
        <p:nvSpPr>
          <p:cNvPr id="17" name="Text 12"/>
          <p:cNvSpPr/>
          <p:nvPr/>
        </p:nvSpPr>
        <p:spPr>
          <a:xfrm>
            <a:off x="960120" y="48006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70" dirty="0">
                <a:solidFill>
                  <a:srgbClr val="EAF2FF"/>
                </a:solidFill>
              </a:rPr>
              <a:t>Se a vantagem competitiva de um profissional estava em saber COMO fazer, ela está encolhendo. O diferencial migra para a capacidade de formular o problema certo, escolher entre caminhos possíveis e assumir a responsabilidade pela escolha.</a:t>
            </a:r>
            <a:endParaRPr lang="en-US" sz="1370" dirty="0"/>
          </a:p>
          <a:p>
            <a:pPr indent="0" marL="0">
              <a:lnSpc>
                <a:spcPts val="1900"/>
              </a:lnSpc>
              <a:buNone/>
            </a:pPr>
            <a:endParaRPr lang="en-US" sz="137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70" dirty="0">
                <a:solidFill>
                  <a:srgbClr val="EAF2FF"/>
                </a:solidFill>
              </a:rPr>
              <a:t>É exatamente o que a Fórmula da Eficácia trata: não é um método de execução, é um método de decisão.</a:t>
            </a:r>
            <a:endParaRPr lang="en-US" sz="1370" dirty="0"/>
          </a:p>
        </p:txBody>
      </p:sp>
      <p:sp>
        <p:nvSpPr>
          <p:cNvPr id="18" name="Text 13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03 · A FÓRMULA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Projetos caminham sobre terreno de suposições</a:t>
            </a:r>
            <a:endParaRPr lang="en-US" sz="2900" dirty="0"/>
          </a:p>
        </p:txBody>
      </p:sp>
      <p:pic>
        <p:nvPicPr>
          <p:cNvPr id="5" name="Image 1" descr="d_terre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0515600" cy="29535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8368" y="5029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60120" y="5120640"/>
            <a:ext cx="10287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30" dirty="0">
                <a:solidFill>
                  <a:srgbClr val="EAF2FF"/>
                </a:solidFill>
              </a:rPr>
              <a:t>O que diferencia um método de outro não é a prática em si — é o ritmo que ela imprime a esse processo de validação, e a manutenção desse ritmo ao longo do tempo.</a:t>
            </a:r>
            <a:endParaRPr lang="en-US" sz="1430" dirty="0"/>
          </a:p>
        </p:txBody>
      </p:sp>
      <p:sp>
        <p:nvSpPr>
          <p:cNvPr id="8" name="Text 4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03 · A FÓRMULA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 Fórmula da Eficácia</a:t>
            </a:r>
            <a:endParaRPr lang="en-US" sz="2900" dirty="0"/>
          </a:p>
        </p:txBody>
      </p:sp>
      <p:pic>
        <p:nvPicPr>
          <p:cNvPr id="5" name="Image 1" descr="d_formula_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33192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8368" y="51663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42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005840" y="51663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FFFFF"/>
                </a:solidFill>
              </a:rPr>
              <a:t>Não é possível prever que você estará certo em cada ação. Mas é possível evitar que você avance estando errado.</a:t>
            </a:r>
            <a:endParaRPr lang="en-US" sz="1630" dirty="0"/>
          </a:p>
        </p:txBody>
      </p:sp>
      <p:sp>
        <p:nvSpPr>
          <p:cNvPr id="8" name="Text 4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04 · DECIDIR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O caminho da fórmula passa por decisões</a:t>
            </a:r>
            <a:endParaRPr lang="en-US" sz="2900" dirty="0"/>
          </a:p>
        </p:txBody>
      </p:sp>
      <p:pic>
        <p:nvPicPr>
          <p:cNvPr id="5" name="Image 1" descr="e_deciso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7360"/>
            <a:ext cx="1088136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8368" y="5120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60120" y="5212080"/>
            <a:ext cx="10287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80" dirty="0">
                <a:solidFill>
                  <a:srgbClr val="EAF2FF"/>
                </a:solidFill>
              </a:rPr>
              <a:t>Nas palavras do autor: enquanto a eficiência implica um processo de aderência e conformidade, a eficácia indica a necessidade intrínseca de ESCOLHAS. Em terreno de hipóteses, não há como selecionar a coisa certa a priori — é preciso escolher, percorrer e só então saber.</a:t>
            </a:r>
            <a:endParaRPr lang="en-US" sz="1380" dirty="0"/>
          </a:p>
        </p:txBody>
      </p:sp>
      <p:sp>
        <p:nvSpPr>
          <p:cNvPr id="8" name="Text 4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04 · DECIDIR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Quem decide, e quando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58368" y="1783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8A8A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965960"/>
            <a:ext cx="621792" cy="621792"/>
          </a:xfrm>
          <a:prstGeom prst="ellipse">
            <a:avLst/>
          </a:prstGeom>
          <a:solidFill>
            <a:srgbClr val="FF8A8A">
              <a:alpha val="14000"/>
            </a:srgbClr>
          </a:solidFill>
          <a:ln w="12700">
            <a:solidFill>
              <a:srgbClr val="FF8A8A">
                <a:alpha val="30000"/>
              </a:srgbClr>
            </a:solidFill>
            <a:prstDash val="solid"/>
          </a:ln>
        </p:spPr>
      </p:sp>
      <p:pic>
        <p:nvPicPr>
          <p:cNvPr id="7" name="Image 1" descr="ic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84" y="2133844"/>
            <a:ext cx="286024" cy="286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4208" y="2002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A"/>
                </a:solidFill>
              </a:rPr>
              <a:t>No mindset de eficiência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32688" y="2697480"/>
            <a:ext cx="48463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180" dirty="0">
                <a:solidFill>
                  <a:srgbClr val="EAF2FF"/>
                </a:solidFill>
              </a:rPr>
              <a:t>A decisão JÁ ESTÁ TOMADA quando o trabalho chega até você.</a:t>
            </a:r>
            <a:endParaRPr lang="en-US" sz="1180" dirty="0"/>
          </a:p>
          <a:p>
            <a:pPr indent="0" marL="0">
              <a:lnSpc>
                <a:spcPts val="1850"/>
              </a:lnSpc>
              <a:buNone/>
            </a:pPr>
            <a:endParaRPr lang="en-US" sz="118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180" dirty="0">
                <a:solidFill>
                  <a:srgbClr val="EAF2FF"/>
                </a:solidFill>
              </a:rPr>
              <a:t>O escopo veio pronto, a solução veio definida, o backlog veio fechado. Resta executar bem.</a:t>
            </a:r>
            <a:endParaRPr lang="en-US" sz="1180" dirty="0"/>
          </a:p>
          <a:p>
            <a:pPr indent="0" marL="0">
              <a:lnSpc>
                <a:spcPts val="1850"/>
              </a:lnSpc>
              <a:buNone/>
            </a:pPr>
            <a:endParaRPr lang="en-US" sz="118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180" dirty="0">
                <a:solidFill>
                  <a:srgbClr val="EAF2FF"/>
                </a:solidFill>
              </a:rPr>
              <a:t>O trabalho é de conformidade: aderir ao que foi decidido em outro lugar, por outra pessoa, em outro momento.</a:t>
            </a:r>
            <a:endParaRPr lang="en-US" sz="1180" dirty="0"/>
          </a:p>
        </p:txBody>
      </p:sp>
      <p:sp>
        <p:nvSpPr>
          <p:cNvPr id="10" name="Shape 6"/>
          <p:cNvSpPr/>
          <p:nvPr/>
        </p:nvSpPr>
        <p:spPr>
          <a:xfrm>
            <a:off x="6281928" y="1783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4ADE80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965960"/>
            <a:ext cx="621792" cy="621792"/>
          </a:xfrm>
          <a:prstGeom prst="ellipse">
            <a:avLst/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pic>
        <p:nvPicPr>
          <p:cNvPr id="12" name="Image 2" descr="ic_un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44" y="2133844"/>
            <a:ext cx="286024" cy="286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87768" y="2002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</a:rPr>
              <a:t>No mindset de eficácia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556248" y="2697480"/>
            <a:ext cx="48463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180" dirty="0">
                <a:solidFill>
                  <a:srgbClr val="EAF2FF"/>
                </a:solidFill>
              </a:rPr>
              <a:t>A decisão É O TRABALHO.</a:t>
            </a:r>
            <a:endParaRPr lang="en-US" sz="1180" dirty="0"/>
          </a:p>
          <a:p>
            <a:pPr indent="0" marL="0">
              <a:lnSpc>
                <a:spcPts val="1850"/>
              </a:lnSpc>
              <a:buNone/>
            </a:pPr>
            <a:endParaRPr lang="en-US" sz="118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180" dirty="0">
                <a:solidFill>
                  <a:srgbClr val="EAF2FF"/>
                </a:solidFill>
              </a:rPr>
              <a:t>A cada passo há várias opções e nenhuma garantia prévia de qual é a certa. Escolher, percorrer e validar faz parte da entrega.</a:t>
            </a:r>
            <a:endParaRPr lang="en-US" sz="1180" dirty="0"/>
          </a:p>
          <a:p>
            <a:pPr indent="0" marL="0">
              <a:lnSpc>
                <a:spcPts val="1850"/>
              </a:lnSpc>
              <a:buNone/>
            </a:pPr>
            <a:endParaRPr lang="en-US" sz="118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180" dirty="0">
                <a:solidFill>
                  <a:srgbClr val="EAF2FF"/>
                </a:solidFill>
              </a:rPr>
              <a:t>O trabalho é de responsabilidade: assumir a escolha e o que ela revela.</a:t>
            </a:r>
            <a:endParaRPr lang="en-US" sz="1180" dirty="0"/>
          </a:p>
        </p:txBody>
      </p:sp>
      <p:sp>
        <p:nvSpPr>
          <p:cNvPr id="15" name="Shape 10"/>
          <p:cNvSpPr/>
          <p:nvPr/>
        </p:nvSpPr>
        <p:spPr>
          <a:xfrm>
            <a:off x="658368" y="5257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42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1005840" y="52578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</a:rPr>
              <a:t>Um time que só recebe decisões prontas não pode ser eficaz — no máximo, eficiente naquilo que outro decidiu.</a:t>
            </a:r>
            <a:endParaRPr lang="en-US" sz="1530" dirty="0"/>
          </a:p>
        </p:txBody>
      </p:sp>
      <p:sp>
        <p:nvSpPr>
          <p:cNvPr id="17" name="Text 12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05 · O ENCAIXE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Não adianta trazer solução: fortaleça o encaixe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58368" y="17373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8A8A">
              <a:alpha val="10000"/>
            </a:srgbClr>
          </a:solidFill>
          <a:ln w="12700">
            <a:solidFill>
              <a:srgbClr val="FF8A8A">
                <a:alpha val="42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FF8A8A">
              <a:alpha val="14000"/>
            </a:srgbClr>
          </a:solidFill>
          <a:ln w="12700">
            <a:solidFill>
              <a:srgbClr val="FF8A8A">
                <a:alpha val="30000"/>
              </a:srgbClr>
            </a:solidFill>
            <a:prstDash val="solid"/>
          </a:ln>
        </p:spPr>
      </p:sp>
      <p:pic>
        <p:nvPicPr>
          <p:cNvPr id="7" name="Image 1" descr="ic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2" y="2047342"/>
            <a:ext cx="294437" cy="2944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17373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420" dirty="0">
                <a:solidFill>
                  <a:srgbClr val="EAF2FF"/>
                </a:solidFill>
              </a:rPr>
              <a:t>Comprometer-se com um escopo que não está associado a nenhum problema concreto do cliente — ou associado ao problema errado — é um erro de eficácia. E ele custa caro mesmo que o time seja extremamente eficiente em entregar o que foi pedido.</a:t>
            </a:r>
            <a:endParaRPr lang="en-US" sz="1420" dirty="0"/>
          </a:p>
        </p:txBody>
      </p:sp>
      <p:sp>
        <p:nvSpPr>
          <p:cNvPr id="9" name="Shape 5"/>
          <p:cNvSpPr/>
          <p:nvPr/>
        </p:nvSpPr>
        <p:spPr>
          <a:xfrm>
            <a:off x="658368" y="292608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FB4D4">
                <a:alpha val="34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32688" y="3108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9FB4D4"/>
                </a:solidFill>
              </a:rPr>
              <a:t>PARADIGMA DA EFICIÊNCIA</a:t>
            </a:r>
            <a:endParaRPr lang="en-US" sz="1430" dirty="0"/>
          </a:p>
        </p:txBody>
      </p:sp>
      <p:sp>
        <p:nvSpPr>
          <p:cNvPr id="11" name="Text 7"/>
          <p:cNvSpPr/>
          <p:nvPr/>
        </p:nvSpPr>
        <p:spPr>
          <a:xfrm>
            <a:off x="932688" y="35478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EAF2FF"/>
                </a:solidFill>
              </a:rPr>
              <a:t>•  Comprometer-se com um backlog</a:t>
            </a:r>
            <a:endParaRPr lang="en-US" sz="1280" dirty="0"/>
          </a:p>
        </p:txBody>
      </p:sp>
      <p:sp>
        <p:nvSpPr>
          <p:cNvPr id="12" name="Text 8"/>
          <p:cNvSpPr/>
          <p:nvPr/>
        </p:nvSpPr>
        <p:spPr>
          <a:xfrm>
            <a:off x="932688" y="411480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EAF2FF"/>
                </a:solidFill>
              </a:rPr>
              <a:t>•  Entregar o escopo prometido, na data prometida</a:t>
            </a:r>
            <a:endParaRPr lang="en-US" sz="1280" dirty="0"/>
          </a:p>
        </p:txBody>
      </p:sp>
      <p:sp>
        <p:nvSpPr>
          <p:cNvPr id="13" name="Text 9"/>
          <p:cNvSpPr/>
          <p:nvPr/>
        </p:nvSpPr>
        <p:spPr>
          <a:xfrm>
            <a:off x="932688" y="468172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EAF2FF"/>
                </a:solidFill>
              </a:rPr>
              <a:t>•  Fazer o que o cliente pede</a:t>
            </a:r>
            <a:endParaRPr lang="en-US" sz="1280" dirty="0"/>
          </a:p>
        </p:txBody>
      </p:sp>
      <p:sp>
        <p:nvSpPr>
          <p:cNvPr id="14" name="Text 10"/>
          <p:cNvSpPr/>
          <p:nvPr/>
        </p:nvSpPr>
        <p:spPr>
          <a:xfrm>
            <a:off x="932688" y="524865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EAF2FF"/>
                </a:solidFill>
              </a:rPr>
              <a:t>•  Delegar ao cliente a responsabilidade sobre o que deve ser feito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6281928" y="292608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D6AA2C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556248" y="3108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D6AA2C"/>
                </a:solidFill>
              </a:rPr>
              <a:t>PARADIGMA DA EFICÁCIA</a:t>
            </a:r>
            <a:endParaRPr lang="en-US" sz="1430" dirty="0"/>
          </a:p>
        </p:txBody>
      </p:sp>
      <p:sp>
        <p:nvSpPr>
          <p:cNvPr id="17" name="Text 13"/>
          <p:cNvSpPr/>
          <p:nvPr/>
        </p:nvSpPr>
        <p:spPr>
          <a:xfrm>
            <a:off x="6556248" y="35478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EAF2FF"/>
                </a:solidFill>
              </a:rPr>
              <a:t>•  Comprometer-se com a solução de um problema</a:t>
            </a:r>
            <a:endParaRPr lang="en-US" sz="1280" dirty="0"/>
          </a:p>
        </p:txBody>
      </p:sp>
      <p:sp>
        <p:nvSpPr>
          <p:cNvPr id="18" name="Text 14"/>
          <p:cNvSpPr/>
          <p:nvPr/>
        </p:nvSpPr>
        <p:spPr>
          <a:xfrm>
            <a:off x="6556248" y="411480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EAF2FF"/>
                </a:solidFill>
              </a:rPr>
              <a:t>•  Resolver o problema dentro da restrição de tempo existente</a:t>
            </a:r>
            <a:endParaRPr lang="en-US" sz="1280" dirty="0"/>
          </a:p>
        </p:txBody>
      </p:sp>
      <p:sp>
        <p:nvSpPr>
          <p:cNvPr id="19" name="Text 15"/>
          <p:cNvSpPr/>
          <p:nvPr/>
        </p:nvSpPr>
        <p:spPr>
          <a:xfrm>
            <a:off x="6556248" y="468172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EAF2FF"/>
                </a:solidFill>
              </a:rPr>
              <a:t>•  Fazer o que o cliente precisa — e ajudá-lo a querer o que precisa</a:t>
            </a:r>
            <a:endParaRPr lang="en-US" sz="1280" dirty="0"/>
          </a:p>
        </p:txBody>
      </p:sp>
      <p:sp>
        <p:nvSpPr>
          <p:cNvPr id="20" name="Text 16"/>
          <p:cNvSpPr/>
          <p:nvPr/>
        </p:nvSpPr>
        <p:spPr>
          <a:xfrm>
            <a:off x="6556248" y="524865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EAF2FF"/>
                </a:solidFill>
              </a:rPr>
              <a:t>•  Compartilhar com o cliente a responsabilidade de descobrir o que fazer</a:t>
            </a:r>
            <a:endParaRPr lang="en-US" sz="1280" dirty="0"/>
          </a:p>
        </p:txBody>
      </p:sp>
      <p:sp>
        <p:nvSpPr>
          <p:cNvPr id="21" name="Text 17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05 · O ENCAIXE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O Mindset Ágil: a fórmula por inteiro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58368" y="1536192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42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53619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A eficácia é revelada pelo melhor encaixe do PROBLEMA com a SOLUÇÃO, considerando as RESTRIÇÕES.</a:t>
            </a:r>
            <a:endParaRPr lang="en-US" sz="1580" dirty="0"/>
          </a:p>
        </p:txBody>
      </p:sp>
      <p:pic>
        <p:nvPicPr>
          <p:cNvPr id="7" name="Image 1" descr="e_ske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67712"/>
            <a:ext cx="11064240" cy="39136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len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5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05 · O ENCAIXE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O que esse raciocínio fecha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777240" y="160020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D6AA2C">
              <a:alpha val="16000"/>
            </a:srgbClr>
          </a:solidFill>
          <a:ln w="12700">
            <a:solidFill>
              <a:srgbClr val="D6AA2C">
                <a:alpha val="4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160020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“O que o cliente quer não é o produto, mas os problemas que ele deixa de ter por causa dele.”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30632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084FC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3272" y="3246120"/>
            <a:ext cx="621792" cy="621792"/>
          </a:xfrm>
          <a:prstGeom prst="ellipse">
            <a:avLst/>
          </a:prstGeom>
          <a:solidFill>
            <a:srgbClr val="C084FC">
              <a:alpha val="14000"/>
            </a:srgbClr>
          </a:solidFill>
          <a:ln w="12700">
            <a:solidFill>
              <a:srgbClr val="C084FC">
                <a:alpha val="30000"/>
              </a:srgbClr>
            </a:solidFill>
            <a:prstDash val="solid"/>
          </a:ln>
        </p:spPr>
      </p:sp>
      <p:pic>
        <p:nvPicPr>
          <p:cNvPr id="10" name="Image 1" descr="ic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56" y="3414004"/>
            <a:ext cx="286024" cy="286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84FC"/>
                </a:solidFill>
              </a:rPr>
              <a:t>O produto é meio, não fim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51560" y="3977640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60" dirty="0">
                <a:solidFill>
                  <a:srgbClr val="EAF2FF"/>
                </a:solidFill>
              </a:rPr>
              <a:t>Ninguém compra funcionalidade: compra o desaparecimento de um incômodo. Por isso comprometer-se com backlog em vez de com problema é erro de eficácia.</a:t>
            </a:r>
            <a:endParaRPr lang="en-US" sz="1060" dirty="0"/>
          </a:p>
        </p:txBody>
      </p:sp>
      <p:sp>
        <p:nvSpPr>
          <p:cNvPr id="13" name="Shape 9"/>
          <p:cNvSpPr/>
          <p:nvPr/>
        </p:nvSpPr>
        <p:spPr>
          <a:xfrm>
            <a:off x="4343400" y="30632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4FF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99432" y="3246120"/>
            <a:ext cx="621792" cy="621792"/>
          </a:xfrm>
          <a:prstGeom prst="ellipse">
            <a:avLst/>
          </a:prstGeom>
          <a:solidFill>
            <a:srgbClr val="7CC4FF">
              <a:alpha val="14000"/>
            </a:srgbClr>
          </a:solidFill>
          <a:ln w="12700">
            <a:solidFill>
              <a:srgbClr val="7CC4FF">
                <a:alpha val="30000"/>
              </a:srgbClr>
            </a:solidFill>
            <a:prstDash val="solid"/>
          </a:ln>
        </p:spPr>
      </p:sp>
      <p:pic>
        <p:nvPicPr>
          <p:cNvPr id="15" name="Image 2" descr="ic_g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316" y="3414004"/>
            <a:ext cx="286024" cy="286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C4FF"/>
                </a:solidFill>
              </a:rPr>
              <a:t>O trajeto importa tanto quanto o destino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617720" y="3977640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60" dirty="0">
                <a:solidFill>
                  <a:srgbClr val="EAF2FF"/>
                </a:solidFill>
              </a:rPr>
              <a:t>Ir de A até B eliminando decisões parece eficiente, mas só funciona se alguém já sabia o caminho certo. Sob incerteza, decidir é o trabalho.</a:t>
            </a:r>
            <a:endParaRPr lang="en-US" sz="1060" dirty="0"/>
          </a:p>
        </p:txBody>
      </p:sp>
      <p:sp>
        <p:nvSpPr>
          <p:cNvPr id="18" name="Shape 13"/>
          <p:cNvSpPr/>
          <p:nvPr/>
        </p:nvSpPr>
        <p:spPr>
          <a:xfrm>
            <a:off x="7909560" y="30632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DE80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65592" y="3246120"/>
            <a:ext cx="621792" cy="621792"/>
          </a:xfrm>
          <a:prstGeom prst="ellipse">
            <a:avLst/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pic>
        <p:nvPicPr>
          <p:cNvPr id="20" name="Image 3" descr="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476" y="3414004"/>
            <a:ext cx="286024" cy="2860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1540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</a:rPr>
              <a:t>Eficiência e eficácia convivem no sistema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183880" y="3977640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60" dirty="0">
                <a:solidFill>
                  <a:srgbClr val="EAF2FF"/>
                </a:solidFill>
              </a:rPr>
              <a:t>Não se escolhe entre as duas: escolhe-se O QUE fazer com eficácia e COMO fazer com eficiência. Inverter essa ordem é o erro.</a:t>
            </a:r>
            <a:endParaRPr lang="en-US" sz="1060" dirty="0"/>
          </a:p>
        </p:txBody>
      </p:sp>
      <p:sp>
        <p:nvSpPr>
          <p:cNvPr id="23" name="Shape 17"/>
          <p:cNvSpPr/>
          <p:nvPr/>
        </p:nvSpPr>
        <p:spPr>
          <a:xfrm>
            <a:off x="777240" y="553212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1097280" y="55321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i="1" dirty="0">
                <a:solidFill>
                  <a:srgbClr val="EAF2FF"/>
                </a:solidFill>
              </a:rPr>
              <a:t>“É melhor fazer a coisa certa do jeito errado do que fazer a coisa errada do jeito certo.”  — Russell Ackoff</a:t>
            </a:r>
            <a:endParaRPr lang="en-US" sz="1430" dirty="0"/>
          </a:p>
        </p:txBody>
      </p:sp>
      <p:sp>
        <p:nvSpPr>
          <p:cNvPr id="25" name="Text 19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05 · O ENCAIXE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 postura que a fórmula exige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58368" y="1783080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CC4FF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965960"/>
            <a:ext cx="621792" cy="621792"/>
          </a:xfrm>
          <a:prstGeom prst="ellipse">
            <a:avLst/>
          </a:prstGeom>
          <a:solidFill>
            <a:srgbClr val="7CC4FF">
              <a:alpha val="14000"/>
            </a:srgbClr>
          </a:solidFill>
          <a:ln w="12700">
            <a:solidFill>
              <a:srgbClr val="7CC4FF">
                <a:alpha val="30000"/>
              </a:srgbClr>
            </a:solidFill>
            <a:prstDash val="solid"/>
          </a:ln>
        </p:spPr>
      </p:sp>
      <p:pic>
        <p:nvPicPr>
          <p:cNvPr id="7" name="Image 1" descr="ic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84" y="2133844"/>
            <a:ext cx="286024" cy="286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4208" y="200253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C4FF"/>
                </a:solidFill>
              </a:rPr>
              <a:t>Aprofunda antes de propor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32688" y="2697480"/>
            <a:ext cx="294436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20" dirty="0">
                <a:solidFill>
                  <a:srgbClr val="EAF2FF"/>
                </a:solidFill>
              </a:rPr>
              <a:t>Faz perguntas até entender o problema real. Não aceita o pedido como se fosse o problema.</a:t>
            </a:r>
            <a:endParaRPr lang="en-US" sz="1120" dirty="0"/>
          </a:p>
        </p:txBody>
      </p:sp>
      <p:sp>
        <p:nvSpPr>
          <p:cNvPr id="10" name="Shape 6"/>
          <p:cNvSpPr/>
          <p:nvPr/>
        </p:nvSpPr>
        <p:spPr>
          <a:xfrm>
            <a:off x="4379976" y="1783080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D6AA2C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36008" y="1965960"/>
            <a:ext cx="621792" cy="621792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12" name="Image 2" descr="ic_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892" y="2133844"/>
            <a:ext cx="286024" cy="286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85816" y="200253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AA2C"/>
                </a:solidFill>
              </a:rPr>
              <a:t>Decide em vez de esperar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654296" y="2697480"/>
            <a:ext cx="294436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20" dirty="0">
                <a:solidFill>
                  <a:srgbClr val="EAF2FF"/>
                </a:solidFill>
              </a:rPr>
              <a:t>Não age apenas por instrução nem apenas por reação ao que acontece. Escolhe e assume a escolha.</a:t>
            </a:r>
            <a:endParaRPr lang="en-US" sz="1120" dirty="0"/>
          </a:p>
        </p:txBody>
      </p:sp>
      <p:sp>
        <p:nvSpPr>
          <p:cNvPr id="15" name="Shape 10"/>
          <p:cNvSpPr/>
          <p:nvPr/>
        </p:nvSpPr>
        <p:spPr>
          <a:xfrm>
            <a:off x="8101584" y="1783080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4ADE80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57616" y="1965960"/>
            <a:ext cx="621792" cy="621792"/>
          </a:xfrm>
          <a:prstGeom prst="ellipse">
            <a:avLst/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pic>
        <p:nvPicPr>
          <p:cNvPr id="17" name="Image 3" descr="ic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500" y="2133844"/>
            <a:ext cx="286024" cy="286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07424" y="200253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Pergunta o que precisa ser feito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375904" y="2697480"/>
            <a:ext cx="294436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20" dirty="0">
                <a:solidFill>
                  <a:srgbClr val="EAF2FF"/>
                </a:solidFill>
              </a:rPr>
              <a:t>Antes de “o que eu quero fazer” ou “o que me pediram”, a pergunta é: o que precisa ser feito agora?</a:t>
            </a:r>
            <a:endParaRPr lang="en-US" sz="1120" dirty="0"/>
          </a:p>
        </p:txBody>
      </p:sp>
      <p:sp>
        <p:nvSpPr>
          <p:cNvPr id="20" name="Shape 14"/>
          <p:cNvSpPr/>
          <p:nvPr/>
        </p:nvSpPr>
        <p:spPr>
          <a:xfrm>
            <a:off x="658368" y="46634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60120" y="4754880"/>
            <a:ext cx="10287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70" dirty="0">
                <a:solidFill>
                  <a:srgbClr val="EAF2FF"/>
                </a:solidFill>
              </a:rPr>
              <a:t>No livro, essa postura é encarnada por Sofia, a protagonista. Ela não espera pedidos: conduz o cliente a um entendimento mais profundo do próprio problema. O resíduo invisível dessa relação é confiança — que, segundo o autor, não vem da cultura nem do mindset do cliente, mas da efetiva geração de valor.</a:t>
            </a:r>
            <a:endParaRPr lang="en-US" sz="1370" dirty="0"/>
          </a:p>
        </p:txBody>
      </p:sp>
      <p:sp>
        <p:nvSpPr>
          <p:cNvPr id="22" name="Text 16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6AA2C"/>
                </a:solidFill>
              </a:rPr>
              <a:t>06 · APLICAÇÃO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58368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Um roteiro de decisão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58368" y="173736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01368"/>
            <a:ext cx="603504" cy="603504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7" name="Image 1" descr="ic_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46" y="1964314"/>
            <a:ext cx="277612" cy="2776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19072" y="173736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D6AA2C"/>
                </a:solidFill>
              </a:rPr>
              <a:t>1</a:t>
            </a:r>
            <a:endParaRPr lang="en-US" sz="1530" dirty="0"/>
          </a:p>
        </p:txBody>
      </p:sp>
      <p:sp>
        <p:nvSpPr>
          <p:cNvPr id="9" name="Text 5"/>
          <p:cNvSpPr/>
          <p:nvPr/>
        </p:nvSpPr>
        <p:spPr>
          <a:xfrm>
            <a:off x="2194560" y="173736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Qual problema isso resolve?</a:t>
            </a:r>
            <a:endParaRPr lang="en-US" sz="1420" dirty="0"/>
          </a:p>
        </p:txBody>
      </p:sp>
      <p:sp>
        <p:nvSpPr>
          <p:cNvPr id="10" name="Text 6"/>
          <p:cNvSpPr/>
          <p:nvPr/>
        </p:nvSpPr>
        <p:spPr>
          <a:xfrm>
            <a:off x="5852160" y="173736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20" dirty="0">
                <a:solidFill>
                  <a:srgbClr val="9FB4D4"/>
                </a:solidFill>
              </a:rPr>
              <a:t>Se a resposta descreve uma funcionalidade, ainda não é um problema. Insista até aparecer alguém sofrendo alguma coisa.</a:t>
            </a:r>
            <a:endParaRPr lang="en-US" sz="1220" dirty="0"/>
          </a:p>
        </p:txBody>
      </p:sp>
      <p:sp>
        <p:nvSpPr>
          <p:cNvPr id="11" name="Shape 7"/>
          <p:cNvSpPr/>
          <p:nvPr/>
        </p:nvSpPr>
        <p:spPr>
          <a:xfrm>
            <a:off x="658368" y="260604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2670048"/>
            <a:ext cx="603504" cy="603504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13" name="Image 2" descr="ic_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46" y="2832994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19072" y="26060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D6AA2C"/>
                </a:solidFill>
              </a:rPr>
              <a:t>2</a:t>
            </a:r>
            <a:endParaRPr lang="en-US" sz="1530" dirty="0"/>
          </a:p>
        </p:txBody>
      </p:sp>
      <p:sp>
        <p:nvSpPr>
          <p:cNvPr id="15" name="Text 10"/>
          <p:cNvSpPr/>
          <p:nvPr/>
        </p:nvSpPr>
        <p:spPr>
          <a:xfrm>
            <a:off x="2194560" y="260604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Que suposição estou assumindo?</a:t>
            </a:r>
            <a:endParaRPr lang="en-US" sz="1420" dirty="0"/>
          </a:p>
        </p:txBody>
      </p:sp>
      <p:sp>
        <p:nvSpPr>
          <p:cNvPr id="16" name="Text 11"/>
          <p:cNvSpPr/>
          <p:nvPr/>
        </p:nvSpPr>
        <p:spPr>
          <a:xfrm>
            <a:off x="5852160" y="260604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20" dirty="0">
                <a:solidFill>
                  <a:srgbClr val="9FB4D4"/>
                </a:solidFill>
              </a:rPr>
              <a:t>Toda decisão carrega uma hipótese implícita sobre o problema, o usuário ou a solução. Torne-a explícita.</a:t>
            </a:r>
            <a:endParaRPr lang="en-US" sz="1220" dirty="0"/>
          </a:p>
        </p:txBody>
      </p:sp>
      <p:sp>
        <p:nvSpPr>
          <p:cNvPr id="17" name="Shape 12"/>
          <p:cNvSpPr/>
          <p:nvPr/>
        </p:nvSpPr>
        <p:spPr>
          <a:xfrm>
            <a:off x="658368" y="347472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3538728"/>
            <a:ext cx="603504" cy="603504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19" name="Image 3" descr="ic_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346" y="3701674"/>
            <a:ext cx="277612" cy="2776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19072" y="347472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D6AA2C"/>
                </a:solidFill>
              </a:rPr>
              <a:t>3</a:t>
            </a:r>
            <a:endParaRPr lang="en-US" sz="1530" dirty="0"/>
          </a:p>
        </p:txBody>
      </p:sp>
      <p:sp>
        <p:nvSpPr>
          <p:cNvPr id="21" name="Text 15"/>
          <p:cNvSpPr/>
          <p:nvPr/>
        </p:nvSpPr>
        <p:spPr>
          <a:xfrm>
            <a:off x="2194560" y="347472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Qual é o menor teste possível?</a:t>
            </a:r>
            <a:endParaRPr lang="en-US" sz="1420" dirty="0"/>
          </a:p>
        </p:txBody>
      </p:sp>
      <p:sp>
        <p:nvSpPr>
          <p:cNvPr id="22" name="Text 16"/>
          <p:cNvSpPr/>
          <p:nvPr/>
        </p:nvSpPr>
        <p:spPr>
          <a:xfrm>
            <a:off x="5852160" y="347472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20" dirty="0">
                <a:solidFill>
                  <a:srgbClr val="9FB4D4"/>
                </a:solidFill>
              </a:rPr>
              <a:t>Nem sempre é construir. Muitas vezes é uma conversa, um dado que já existe, um protótipo descartável.</a:t>
            </a:r>
            <a:endParaRPr lang="en-US" sz="1220" dirty="0"/>
          </a:p>
        </p:txBody>
      </p:sp>
      <p:sp>
        <p:nvSpPr>
          <p:cNvPr id="23" name="Shape 17"/>
          <p:cNvSpPr/>
          <p:nvPr/>
        </p:nvSpPr>
        <p:spPr>
          <a:xfrm>
            <a:off x="658368" y="434340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4407408"/>
            <a:ext cx="603504" cy="603504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25" name="Image 4" descr="ic_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346" y="4570354"/>
            <a:ext cx="277612" cy="2776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19072" y="434340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D6AA2C"/>
                </a:solidFill>
              </a:rPr>
              <a:t>4</a:t>
            </a:r>
            <a:endParaRPr lang="en-US" sz="1530" dirty="0"/>
          </a:p>
        </p:txBody>
      </p:sp>
      <p:sp>
        <p:nvSpPr>
          <p:cNvPr id="27" name="Text 20"/>
          <p:cNvSpPr/>
          <p:nvPr/>
        </p:nvSpPr>
        <p:spPr>
          <a:xfrm>
            <a:off x="2194560" y="434340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O que aceito como evidência?</a:t>
            </a:r>
            <a:endParaRPr lang="en-US" sz="1420" dirty="0"/>
          </a:p>
        </p:txBody>
      </p:sp>
      <p:sp>
        <p:nvSpPr>
          <p:cNvPr id="28" name="Text 21"/>
          <p:cNvSpPr/>
          <p:nvPr/>
        </p:nvSpPr>
        <p:spPr>
          <a:xfrm>
            <a:off x="5852160" y="434340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20" dirty="0">
                <a:solidFill>
                  <a:srgbClr val="9FB4D4"/>
                </a:solidFill>
              </a:rPr>
              <a:t>Defina antes do teste o que confirmaria e o que refutaria. Sem isso, qualquer resultado vira confirmação.</a:t>
            </a:r>
            <a:endParaRPr lang="en-US" sz="1220" dirty="0"/>
          </a:p>
        </p:txBody>
      </p:sp>
      <p:sp>
        <p:nvSpPr>
          <p:cNvPr id="29" name="Shape 22"/>
          <p:cNvSpPr/>
          <p:nvPr/>
        </p:nvSpPr>
        <p:spPr>
          <a:xfrm>
            <a:off x="658368" y="521208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4400" y="5276088"/>
            <a:ext cx="603504" cy="603504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31" name="Image 5" descr="ic_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346" y="5439034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719072" y="521208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D6AA2C"/>
                </a:solidFill>
              </a:rPr>
              <a:t>5</a:t>
            </a:r>
            <a:endParaRPr lang="en-US" sz="1530" dirty="0"/>
          </a:p>
        </p:txBody>
      </p:sp>
      <p:sp>
        <p:nvSpPr>
          <p:cNvPr id="33" name="Text 25"/>
          <p:cNvSpPr/>
          <p:nvPr/>
        </p:nvSpPr>
        <p:spPr>
          <a:xfrm>
            <a:off x="2194560" y="521208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Qual é o Δt disso?</a:t>
            </a:r>
            <a:endParaRPr lang="en-US" sz="1420" dirty="0"/>
          </a:p>
        </p:txBody>
      </p:sp>
      <p:sp>
        <p:nvSpPr>
          <p:cNvPr id="34" name="Text 26"/>
          <p:cNvSpPr/>
          <p:nvPr/>
        </p:nvSpPr>
        <p:spPr>
          <a:xfrm>
            <a:off x="5852160" y="521208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20" dirty="0">
                <a:solidFill>
                  <a:srgbClr val="9FB4D4"/>
                </a:solidFill>
              </a:rPr>
              <a:t>Quanto tempo vou seguir comprometido antes de saber? Se a resposta for “meses”, redesenhe o teste.</a:t>
            </a:r>
            <a:endParaRPr lang="en-US" sz="1220" dirty="0"/>
          </a:p>
        </p:txBody>
      </p:sp>
      <p:sp>
        <p:nvSpPr>
          <p:cNvPr id="35" name="Text 27"/>
          <p:cNvSpPr/>
          <p:nvPr/>
        </p:nvSpPr>
        <p:spPr>
          <a:xfrm>
            <a:off x="658368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D6AA2C"/>
                </a:solidFill>
              </a:rPr>
              <a:t>Nenhuma dessas perguntas é sobre COMO fazer. Todas são sobre O QUE é certo fazer — e é aí que mora a eficácia.</a:t>
            </a:r>
            <a:endParaRPr lang="en-US" sz="1390" dirty="0"/>
          </a:p>
        </p:txBody>
      </p:sp>
      <p:sp>
        <p:nvSpPr>
          <p:cNvPr id="36" name="Text 28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dinamic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85800" y="566928"/>
            <a:ext cx="777240" cy="777240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5" name="Image 1" descr="ic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55" y="776783"/>
            <a:ext cx="357530" cy="3575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5920" y="5669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90" b="1" spc="200" kern="0" dirty="0">
                <a:solidFill>
                  <a:srgbClr val="D6AA2C"/>
                </a:solidFill>
              </a:rPr>
              <a:t>EXERCÍCIO EM SALA · 20 MINUTOS</a:t>
            </a:r>
            <a:endParaRPr lang="en-US" sz="1390" dirty="0"/>
          </a:p>
        </p:txBody>
      </p:sp>
      <p:sp>
        <p:nvSpPr>
          <p:cNvPr id="7" name="Text 3"/>
          <p:cNvSpPr/>
          <p:nvPr/>
        </p:nvSpPr>
        <p:spPr>
          <a:xfrm>
            <a:off x="685800" y="1325880"/>
            <a:ext cx="105156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25400" dir="5400000">
              <a:srgbClr val="000000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Auditoria de suposições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85800" y="2194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80" dirty="0">
                <a:solidFill>
                  <a:srgbClr val="C7D7EE"/>
                </a:solidFill>
              </a:rPr>
              <a:t>Em trios, peguem um projeto real — de faculdade, estágio ou trabalho — e submetam uma decisão dele ao roteiro.</a:t>
            </a:r>
            <a:endParaRPr lang="en-US" sz="1580" dirty="0"/>
          </a:p>
        </p:txBody>
      </p:sp>
      <p:sp>
        <p:nvSpPr>
          <p:cNvPr id="9" name="Shape 5"/>
          <p:cNvSpPr/>
          <p:nvPr/>
        </p:nvSpPr>
        <p:spPr>
          <a:xfrm>
            <a:off x="685800" y="30632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41832" y="3273552"/>
            <a:ext cx="621792" cy="621792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11" name="Image 2" descr="ic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16" y="3441436"/>
            <a:ext cx="286024" cy="286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AA2C"/>
                </a:solidFill>
              </a:rPr>
              <a:t>1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941832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Escolham uma decisão</a:t>
            </a:r>
            <a:endParaRPr lang="en-US" sz="1580" dirty="0"/>
          </a:p>
        </p:txBody>
      </p:sp>
      <p:sp>
        <p:nvSpPr>
          <p:cNvPr id="14" name="Text 9"/>
          <p:cNvSpPr/>
          <p:nvPr/>
        </p:nvSpPr>
        <p:spPr>
          <a:xfrm>
            <a:off x="941832" y="44074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10" dirty="0">
                <a:solidFill>
                  <a:srgbClr val="BCD0EA"/>
                </a:solidFill>
              </a:rPr>
              <a:t>5 min · Uma decisão já tomada no projeto. De preferência, uma que ninguém questionou.</a:t>
            </a:r>
            <a:endParaRPr lang="en-US" sz="1210" dirty="0"/>
          </a:p>
        </p:txBody>
      </p:sp>
      <p:sp>
        <p:nvSpPr>
          <p:cNvPr id="15" name="Shape 10"/>
          <p:cNvSpPr/>
          <p:nvPr/>
        </p:nvSpPr>
        <p:spPr>
          <a:xfrm>
            <a:off x="4389120" y="30632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45152" y="3273552"/>
            <a:ext cx="621792" cy="621792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17" name="Image 3" descr="ic_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036" y="3441436"/>
            <a:ext cx="286024" cy="286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AA2C"/>
                </a:solidFill>
              </a:rPr>
              <a:t>2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4645152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Encontrem a suposição</a:t>
            </a:r>
            <a:endParaRPr lang="en-US" sz="1580" dirty="0"/>
          </a:p>
        </p:txBody>
      </p:sp>
      <p:sp>
        <p:nvSpPr>
          <p:cNvPr id="20" name="Text 14"/>
          <p:cNvSpPr/>
          <p:nvPr/>
        </p:nvSpPr>
        <p:spPr>
          <a:xfrm>
            <a:off x="4645152" y="44074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10" dirty="0">
                <a:solidFill>
                  <a:srgbClr val="BCD0EA"/>
                </a:solidFill>
              </a:rPr>
              <a:t>7 min · O que foi assumido como verdade sem verificação? Escrevam a hipótese implícita.</a:t>
            </a:r>
            <a:endParaRPr lang="en-US" sz="1210" dirty="0"/>
          </a:p>
        </p:txBody>
      </p:sp>
      <p:sp>
        <p:nvSpPr>
          <p:cNvPr id="21" name="Shape 15"/>
          <p:cNvSpPr/>
          <p:nvPr/>
        </p:nvSpPr>
        <p:spPr>
          <a:xfrm>
            <a:off x="8092440" y="30632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348472" y="3273552"/>
            <a:ext cx="621792" cy="621792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23" name="Image 4" descr="ic_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6356" y="3441436"/>
            <a:ext cx="286024" cy="2860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9828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AA2C"/>
                </a:solidFill>
              </a:rPr>
              <a:t>3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8348472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Estimem o Δt</a:t>
            </a:r>
            <a:endParaRPr lang="en-US" sz="1580" dirty="0"/>
          </a:p>
        </p:txBody>
      </p:sp>
      <p:sp>
        <p:nvSpPr>
          <p:cNvPr id="26" name="Text 19"/>
          <p:cNvSpPr/>
          <p:nvPr/>
        </p:nvSpPr>
        <p:spPr>
          <a:xfrm>
            <a:off x="8348472" y="44074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10" dirty="0">
                <a:solidFill>
                  <a:srgbClr val="BCD0EA"/>
                </a:solidFill>
              </a:rPr>
              <a:t>8 min · Há quanto tempo ela existe sem validação? E qual seria o menor teste possível hoje?</a:t>
            </a:r>
            <a:endParaRPr lang="en-US" sz="1210" dirty="0"/>
          </a:p>
        </p:txBody>
      </p:sp>
      <p:sp>
        <p:nvSpPr>
          <p:cNvPr id="27" name="Shape 20"/>
          <p:cNvSpPr/>
          <p:nvPr/>
        </p:nvSpPr>
        <p:spPr>
          <a:xfrm>
            <a:off x="685800" y="5321808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42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1005840" y="5321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A descoberta mais comum: a decisão mais antiga do projeto é a menos validada — e a que mais custa mudar agora.</a:t>
            </a:r>
            <a:endParaRPr lang="en-US" sz="1430" dirty="0"/>
          </a:p>
        </p:txBody>
      </p:sp>
      <p:sp>
        <p:nvSpPr>
          <p:cNvPr id="29" name="Text 22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O que fica deste bloco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58368" y="173736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92808"/>
            <a:ext cx="603504" cy="603504"/>
          </a:xfrm>
          <a:prstGeom prst="ellipse">
            <a:avLst/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pic>
        <p:nvPicPr>
          <p:cNvPr id="7" name="Image 1" descr="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46" y="2055754"/>
            <a:ext cx="277612" cy="2776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19072" y="1865376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Os papéis se inverteram</a:t>
            </a:r>
            <a:endParaRPr lang="en-US" sz="1580" dirty="0"/>
          </a:p>
        </p:txBody>
      </p:sp>
      <p:sp>
        <p:nvSpPr>
          <p:cNvPr id="9" name="Text 5"/>
          <p:cNvSpPr/>
          <p:nvPr/>
        </p:nvSpPr>
        <p:spPr>
          <a:xfrm>
            <a:off x="1719072" y="21945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9FB4D4"/>
                </a:solidFill>
              </a:rPr>
              <a:t>Eficácia era pressuposto e eficiência era o alvo. Hoje eficiência é pressuposto e eficácia é o alvo.</a:t>
            </a:r>
            <a:endParaRPr lang="en-US" sz="1280" dirty="0"/>
          </a:p>
        </p:txBody>
      </p:sp>
      <p:sp>
        <p:nvSpPr>
          <p:cNvPr id="10" name="Shape 6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8368" y="2816352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2971800"/>
            <a:ext cx="603504" cy="603504"/>
          </a:xfrm>
          <a:prstGeom prst="ellipse">
            <a:avLst/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pic>
        <p:nvPicPr>
          <p:cNvPr id="13" name="Image 2" descr="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46" y="3134746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19072" y="294436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A eficácia exige escolha, não conformidade</a:t>
            </a:r>
            <a:endParaRPr lang="en-US" sz="1580" dirty="0"/>
          </a:p>
        </p:txBody>
      </p:sp>
      <p:sp>
        <p:nvSpPr>
          <p:cNvPr id="15" name="Text 10"/>
          <p:cNvSpPr/>
          <p:nvPr/>
        </p:nvSpPr>
        <p:spPr>
          <a:xfrm>
            <a:off x="1719072" y="327355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9FB4D4"/>
                </a:solidFill>
              </a:rPr>
              <a:t>O caminho da fórmula é atravessado por decisões. Onde a decisão já veio pronta, resta apenas eficiência.</a:t>
            </a:r>
            <a:endParaRPr lang="en-US" sz="1280" dirty="0"/>
          </a:p>
        </p:txBody>
      </p:sp>
      <p:sp>
        <p:nvSpPr>
          <p:cNvPr id="16" name="Shape 11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368" y="3895344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4050792"/>
            <a:ext cx="603504" cy="603504"/>
          </a:xfrm>
          <a:prstGeom prst="ellipse">
            <a:avLst/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pic>
        <p:nvPicPr>
          <p:cNvPr id="19" name="Image 3" descr="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346" y="4213738"/>
            <a:ext cx="277612" cy="2776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19072" y="402336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Fortalecer o encaixe vem antes de trazer solução</a:t>
            </a:r>
            <a:endParaRPr lang="en-US" sz="1580" dirty="0"/>
          </a:p>
        </p:txBody>
      </p:sp>
      <p:sp>
        <p:nvSpPr>
          <p:cNvPr id="21" name="Text 15"/>
          <p:cNvSpPr/>
          <p:nvPr/>
        </p:nvSpPr>
        <p:spPr>
          <a:xfrm>
            <a:off x="1719072" y="435254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9FB4D4"/>
                </a:solidFill>
              </a:rPr>
              <a:t>Comprometer-se com backlog em vez de com problema é o erro de eficácia mais caro e mais comum.</a:t>
            </a:r>
            <a:endParaRPr lang="en-US" sz="1280" dirty="0"/>
          </a:p>
        </p:txBody>
      </p:sp>
      <p:sp>
        <p:nvSpPr>
          <p:cNvPr id="22" name="Shape 16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8368" y="4974336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5129784"/>
            <a:ext cx="603504" cy="603504"/>
          </a:xfrm>
          <a:prstGeom prst="ellipse">
            <a:avLst/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pic>
        <p:nvPicPr>
          <p:cNvPr id="25" name="Image 4" descr="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346" y="5292730"/>
            <a:ext cx="277612" cy="2776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19072" y="510235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</a:rPr>
              <a:t>Sabedoria é o único andar que responde “o que é certo”</a:t>
            </a:r>
            <a:endParaRPr lang="en-US" sz="1580" dirty="0"/>
          </a:p>
        </p:txBody>
      </p:sp>
      <p:sp>
        <p:nvSpPr>
          <p:cNvPr id="27" name="Text 20"/>
          <p:cNvSpPr/>
          <p:nvPr/>
        </p:nvSpPr>
        <p:spPr>
          <a:xfrm>
            <a:off x="1719072" y="543153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80" dirty="0">
                <a:solidFill>
                  <a:srgbClr val="9FB4D4"/>
                </a:solidFill>
              </a:rPr>
              <a:t>Dados, informação, conhecimento e entendimento servem ao como. Só a sabedoria serve ao quê.</a:t>
            </a:r>
            <a:endParaRPr lang="en-US" sz="1280" dirty="0"/>
          </a:p>
        </p:txBody>
      </p:sp>
      <p:sp>
        <p:nvSpPr>
          <p:cNvPr id="28" name="Shape 21"/>
          <p:cNvSpPr/>
          <p:nvPr/>
        </p:nvSpPr>
        <p:spPr>
          <a:xfrm>
            <a:off x="658368" y="6053328"/>
            <a:ext cx="1088136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ec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Referências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58368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74520"/>
            <a:ext cx="585216" cy="585216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7" name="Image 1" descr="ic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08" y="2032528"/>
            <a:ext cx="269199" cy="2691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8379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90" b="1" dirty="0">
                <a:solidFill>
                  <a:srgbClr val="FFFFFF"/>
                </a:solidFill>
              </a:rPr>
              <a:t>VALE, Alisson.</a:t>
            </a:r>
            <a:endParaRPr lang="en-US" sz="1390" dirty="0"/>
          </a:p>
        </p:txBody>
      </p:sp>
      <p:sp>
        <p:nvSpPr>
          <p:cNvPr id="9" name="Text 5"/>
          <p:cNvSpPr/>
          <p:nvPr/>
        </p:nvSpPr>
        <p:spPr>
          <a:xfrm>
            <a:off x="4754880" y="17830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90" dirty="0">
                <a:solidFill>
                  <a:srgbClr val="9FB4D4"/>
                </a:solidFill>
              </a:rPr>
              <a:t>A Fórmula da Eficácia. Software Zen, 2020. Ensaios: O Encaixe Problema-Solução · A Narrativa da Eficácia · A Estratégia do Fluxo Eficaz.</a:t>
            </a:r>
            <a:endParaRPr lang="en-US" sz="1190" dirty="0"/>
          </a:p>
        </p:txBody>
      </p:sp>
      <p:sp>
        <p:nvSpPr>
          <p:cNvPr id="10" name="Shape 6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8368" y="26974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2788920"/>
            <a:ext cx="585216" cy="585216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13" name="Image 2" descr="ic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8" y="2946928"/>
            <a:ext cx="269199" cy="2691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27523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90" b="1" dirty="0">
                <a:solidFill>
                  <a:srgbClr val="FFFFFF"/>
                </a:solidFill>
              </a:rPr>
              <a:t>VALE, Alisson.</a:t>
            </a:r>
            <a:endParaRPr lang="en-US" sz="1390" dirty="0"/>
          </a:p>
        </p:txBody>
      </p:sp>
      <p:sp>
        <p:nvSpPr>
          <p:cNvPr id="15" name="Text 10"/>
          <p:cNvSpPr/>
          <p:nvPr/>
        </p:nvSpPr>
        <p:spPr>
          <a:xfrm>
            <a:off x="4754880" y="26974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90" dirty="0">
                <a:solidFill>
                  <a:srgbClr val="9FB4D4"/>
                </a:solidFill>
              </a:rPr>
              <a:t>Blog Software Zen (medium.com/software-zen) — “A História da Fórmula da Eficácia” e “O encaixe problema-solução”.</a:t>
            </a:r>
            <a:endParaRPr lang="en-US" sz="1190" dirty="0"/>
          </a:p>
        </p:txBody>
      </p:sp>
      <p:sp>
        <p:nvSpPr>
          <p:cNvPr id="16" name="Shape 11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368" y="36118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3703320"/>
            <a:ext cx="585216" cy="585216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19" name="Image 3" descr="ic_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08" y="3861328"/>
            <a:ext cx="269199" cy="26919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3666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90" b="1" dirty="0">
                <a:solidFill>
                  <a:srgbClr val="FFFFFF"/>
                </a:solidFill>
              </a:rPr>
              <a:t>ACKOFF, Russell L.</a:t>
            </a:r>
            <a:endParaRPr lang="en-US" sz="1390" dirty="0"/>
          </a:p>
        </p:txBody>
      </p:sp>
      <p:sp>
        <p:nvSpPr>
          <p:cNvPr id="21" name="Text 15"/>
          <p:cNvSpPr/>
          <p:nvPr/>
        </p:nvSpPr>
        <p:spPr>
          <a:xfrm>
            <a:off x="4754880" y="3611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90" dirty="0">
                <a:solidFill>
                  <a:srgbClr val="9FB4D4"/>
                </a:solidFill>
              </a:rPr>
              <a:t>From Data to Wisdom (1989) e Management f-Laws — a hierarquia do conhecimento e a distinção eficiência/eficácia.</a:t>
            </a:r>
            <a:endParaRPr lang="en-US" sz="1190" dirty="0"/>
          </a:p>
        </p:txBody>
      </p:sp>
      <p:sp>
        <p:nvSpPr>
          <p:cNvPr id="22" name="Shape 16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8368" y="45262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4617720"/>
            <a:ext cx="585216" cy="585216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25" name="Image 4" descr="ic_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408" y="4775728"/>
            <a:ext cx="269199" cy="2691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4581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90" b="1" dirty="0">
                <a:solidFill>
                  <a:srgbClr val="FFFFFF"/>
                </a:solidFill>
              </a:rPr>
              <a:t>DRUCKER, Peter.</a:t>
            </a:r>
            <a:endParaRPr lang="en-US" sz="1390" dirty="0"/>
          </a:p>
        </p:txBody>
      </p:sp>
      <p:sp>
        <p:nvSpPr>
          <p:cNvPr id="27" name="Text 20"/>
          <p:cNvSpPr/>
          <p:nvPr/>
        </p:nvSpPr>
        <p:spPr>
          <a:xfrm>
            <a:off x="4754880" y="45262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90" dirty="0">
                <a:solidFill>
                  <a:srgbClr val="9FB4D4"/>
                </a:solidFill>
              </a:rPr>
              <a:t>The Effective Executive (1967) — origem da distinção entre fazer do jeito certo e fazer a coisa certa.</a:t>
            </a:r>
            <a:endParaRPr lang="en-US" sz="1190" dirty="0"/>
          </a:p>
        </p:txBody>
      </p:sp>
      <p:sp>
        <p:nvSpPr>
          <p:cNvPr id="28" name="Shape 21"/>
          <p:cNvSpPr/>
          <p:nvPr/>
        </p:nvSpPr>
        <p:spPr>
          <a:xfrm>
            <a:off x="658368" y="658368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8368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4400" y="5532120"/>
            <a:ext cx="585216" cy="585216"/>
          </a:xfrm>
          <a:prstGeom prst="ellipse">
            <a:avLst/>
          </a:prstGeom>
          <a:solidFill>
            <a:srgbClr val="D6AA2C">
              <a:alpha val="14000"/>
            </a:srgbClr>
          </a:solidFill>
          <a:ln w="12700">
            <a:solidFill>
              <a:srgbClr val="D6AA2C">
                <a:alpha val="30000"/>
              </a:srgbClr>
            </a:solidFill>
            <a:prstDash val="solid"/>
          </a:ln>
        </p:spPr>
      </p:sp>
      <p:pic>
        <p:nvPicPr>
          <p:cNvPr id="31" name="Image 5" descr="ic_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408" y="5690128"/>
            <a:ext cx="269199" cy="26919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91640" y="5495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90" b="1" dirty="0">
                <a:solidFill>
                  <a:srgbClr val="FFFFFF"/>
                </a:solidFill>
              </a:rPr>
              <a:t>ANDERSON, David J.</a:t>
            </a:r>
            <a:endParaRPr lang="en-US" sz="1390" dirty="0"/>
          </a:p>
        </p:txBody>
      </p:sp>
      <p:sp>
        <p:nvSpPr>
          <p:cNvPr id="33" name="Text 25"/>
          <p:cNvSpPr/>
          <p:nvPr/>
        </p:nvSpPr>
        <p:spPr>
          <a:xfrm>
            <a:off x="4754880" y="54406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90" dirty="0">
                <a:solidFill>
                  <a:srgbClr val="9FB4D4"/>
                </a:solidFill>
              </a:rPr>
              <a:t>Lessons in Agile Management — leitura que originou a conexão feita pelo autor em 2012.</a:t>
            </a:r>
            <a:endParaRPr lang="en-US" sz="1190" dirty="0"/>
          </a:p>
        </p:txBody>
      </p:sp>
      <p:sp>
        <p:nvSpPr>
          <p:cNvPr id="34" name="Text 26"/>
          <p:cNvSpPr/>
          <p:nvPr/>
        </p:nvSpPr>
        <p:spPr>
          <a:xfrm>
            <a:off x="658368" y="63093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i="1" dirty="0">
                <a:solidFill>
                  <a:srgbClr val="D6AA2C"/>
                </a:solidFill>
              </a:rPr>
              <a:t>Prof. Ari Amaral · IBMEC · 2026</a:t>
            </a:r>
            <a:endParaRPr lang="en-US" sz="1180" dirty="0"/>
          </a:p>
        </p:txBody>
      </p:sp>
      <p:sp>
        <p:nvSpPr>
          <p:cNvPr id="35" name="Text 27"/>
          <p:cNvSpPr/>
          <p:nvPr/>
        </p:nvSpPr>
        <p:spPr>
          <a:xfrm>
            <a:off x="658368" y="6382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A Fórmula da Eficácia · Prof. Ari Amaral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0972800" y="6382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B5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IBMEC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Fórmula da Eficácia — mindset de decisão</dc:title>
  <dc:subject>PptxGenJS Presentation</dc:subject>
  <dc:creator>Prof. Ari Amaral</dc:creator>
  <cp:lastModifiedBy>Prof. Ari Amaral</cp:lastModifiedBy>
  <cp:revision>1</cp:revision>
  <dcterms:created xsi:type="dcterms:W3CDTF">2026-08-11T21:50:49Z</dcterms:created>
  <dcterms:modified xsi:type="dcterms:W3CDTF">2026-08-11T21:50:49Z</dcterms:modified>
</cp:coreProperties>
</file>